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9007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2926080" cy="2148840"/>
          </a:xfrm>
          <a:prstGeom prst="roundRect">
            <a:avLst>
              <a:gd name="adj" fmla="val 4255"/>
            </a:avLst>
          </a:prstGeom>
          <a:solidFill>
            <a:srgbClr val="2A3470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1188720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4" name="Shape 2"/>
          <p:cNvSpPr/>
          <p:nvPr/>
        </p:nvSpPr>
        <p:spPr>
          <a:xfrm>
            <a:off x="9180576" y="118872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" name="Shape 3"/>
          <p:cNvSpPr/>
          <p:nvPr/>
        </p:nvSpPr>
        <p:spPr>
          <a:xfrm>
            <a:off x="9381744" y="1188720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9006840" y="150876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FC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validate(form) {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(isValid) {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"success";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FC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5  ·  ITUE203  ·  WEB DEVELOPMENT FRAMEWORKS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Registration Form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Validation &amp; User-Friendly Error Handling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21945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walkthrough of register.html · style.css · script.js — the StudentHub portal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Static Pages to a Smart 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look at how far the StudentHub project has come — before we dive into today's practical.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" y="2331720"/>
            <a:ext cx="1691640" cy="2148840"/>
          </a:xfrm>
          <a:prstGeom prst="roundRect">
            <a:avLst>
              <a:gd name="adj" fmla="val 4865"/>
            </a:avLst>
          </a:prstGeom>
          <a:solidFill>
            <a:srgbClr val="F7FAFC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2436" y="2542032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1202436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" y="324612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74904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Sitemap, wireframe,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50592" y="2331720"/>
            <a:ext cx="1691640" cy="2148840"/>
          </a:xfrm>
          <a:prstGeom prst="roundRect">
            <a:avLst>
              <a:gd name="adj" fmla="val 4865"/>
            </a:avLst>
          </a:prstGeom>
          <a:solidFill>
            <a:srgbClr val="F7FAFC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7812" y="2542032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3067812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23744" y="324612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HTML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23744" y="374904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linked pages,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structure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15968" y="2331720"/>
            <a:ext cx="1691640" cy="2148840"/>
          </a:xfrm>
          <a:prstGeom prst="roundRect">
            <a:avLst>
              <a:gd name="adj" fmla="val 4865"/>
            </a:avLst>
          </a:prstGeom>
          <a:solidFill>
            <a:srgbClr val="F7FAFC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3188" y="2542032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4933188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89120" y="324612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CSS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374904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Grid, Flexbox,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layout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81344" y="2331720"/>
            <a:ext cx="1691640" cy="2148840"/>
          </a:xfrm>
          <a:prstGeom prst="roundRect">
            <a:avLst>
              <a:gd name="adj" fmla="val 4865"/>
            </a:avLst>
          </a:prstGeom>
          <a:solidFill>
            <a:srgbClr val="F7FAFC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98564" y="2542032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2" name="Text 20"/>
          <p:cNvSpPr/>
          <p:nvPr/>
        </p:nvSpPr>
        <p:spPr>
          <a:xfrm>
            <a:off x="6798564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54496" y="324612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Interactivity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54496" y="374904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FAQ, modal, slider,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mode, menu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46720" y="2331720"/>
            <a:ext cx="1691640" cy="2148840"/>
          </a:xfrm>
          <a:prstGeom prst="roundRect">
            <a:avLst>
              <a:gd name="adj" fmla="val 4865"/>
            </a:avLst>
          </a:prstGeom>
          <a:solidFill>
            <a:srgbClr val="1C7293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63940" y="2542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6639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19872" y="324612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Form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19872" y="374904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E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friendly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E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912096" y="2331720"/>
            <a:ext cx="1691640" cy="2148840"/>
          </a:xfrm>
          <a:prstGeom prst="roundRect">
            <a:avLst>
              <a:gd name="adj" fmla="val 4865"/>
            </a:avLst>
          </a:prstGeom>
          <a:solidFill>
            <a:srgbClr val="EEF3F7"/>
          </a:solidFill>
          <a:ln w="12700">
            <a:solidFill>
              <a:srgbClr val="D7E1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29316" y="2542032"/>
            <a:ext cx="457200" cy="457200"/>
          </a:xfrm>
          <a:prstGeom prst="ellipse">
            <a:avLst/>
          </a:prstGeom>
          <a:solidFill>
            <a:srgbClr val="CBD6DF"/>
          </a:solidFill>
          <a:ln/>
        </p:spPr>
      </p:sp>
      <p:sp>
        <p:nvSpPr>
          <p:cNvPr id="32" name="Text 30"/>
          <p:cNvSpPr/>
          <p:nvPr/>
        </p:nvSpPr>
        <p:spPr>
          <a:xfrm>
            <a:off x="10529316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85248" y="324612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API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85248" y="374904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data,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5216" y="480060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36" name="Text 34"/>
          <p:cNvSpPr/>
          <p:nvPr/>
        </p:nvSpPr>
        <p:spPr>
          <a:xfrm>
            <a:off x="585216" y="4800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Already built (P1–P4)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46720" y="480060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0" y="4800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Today's focus (P5)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02539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0253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673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student details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54480" y="21671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mobile, course, year, gender — in one clean form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41732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345936" y="202539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345936" y="20253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1673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a secure password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32320" y="21671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confirmation and a live strength check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EE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" y="417423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1742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3822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with Regular Expressions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54480" y="43159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is checked against a precise pattern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35661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EE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345936" y="417423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345936" y="41742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3822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friendly, inline errors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32320" y="43159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scary browser pop-ups — messages sit right next to the field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REGISTER.HTML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9 Fields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in the form maps to one validation rule in script.js.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5216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933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" y="19385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Name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144" y="22860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input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724912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+ spaces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4256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8848" y="19933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01184" y="19385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Address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01184" y="22860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type="email"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98848" y="2724912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name@domain.tld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83296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19933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247888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50224" y="19385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Number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650224" y="22860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type="tel"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47888" y="2724912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digits, starts 6–9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5216" y="34747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36393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" y="35844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52144" y="3931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type="password"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" y="4370832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live strength meter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34256" y="34747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98848" y="36393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4498848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01184" y="35844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Password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901184" y="3931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type="password"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98848" y="4370832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live match check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83296" y="34747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47888" y="36393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8247888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50224" y="35844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650224" y="3931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&lt;select&gt; dropdown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47888" y="4370832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be empty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5216" y="5120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" y="528523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285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52144" y="52303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152144" y="5577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&lt;select&gt; dropdown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49808" y="6016752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be empty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334256" y="5120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98848" y="528523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49" name="Text 47"/>
          <p:cNvSpPr/>
          <p:nvPr/>
        </p:nvSpPr>
        <p:spPr>
          <a:xfrm>
            <a:off x="4498848" y="5285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01184" y="52303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4901184" y="5577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 buttons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498848" y="6016752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must be checked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083296" y="5120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47888" y="528523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55" name="Text 53"/>
          <p:cNvSpPr/>
          <p:nvPr/>
        </p:nvSpPr>
        <p:spPr>
          <a:xfrm>
            <a:off x="8247888" y="5285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650224" y="52303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Terms &amp; Conditions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8650224" y="5577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checkbox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247888" y="6016752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checked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REGISTER.HTML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HTML Building Blocks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035040" cy="4892040"/>
          </a:xfrm>
          <a:prstGeom prst="roundRect">
            <a:avLst>
              <a:gd name="adj" fmla="val 1495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1664208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" y="166420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9344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register.html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1965960"/>
            <a:ext cx="5532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id=</a:t>
            </a:r>
            <a:r>
              <a:rPr lang="en-US" sz="125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"registrationForm"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2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novalidate&gt;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</a:t>
            </a:r>
            <a:r>
              <a:rPr lang="en-US" sz="125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"email"&gt;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Address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&lt;/label&gt;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</a:t>
            </a:r>
            <a:r>
              <a:rPr lang="en-US" sz="125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id=</a:t>
            </a:r>
            <a:r>
              <a:rPr lang="en-US" sz="125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placeholder=</a:t>
            </a:r>
            <a:r>
              <a:rPr lang="en-US" sz="125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your email"&gt;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 id=</a:t>
            </a:r>
            <a:r>
              <a:rPr lang="en-US" sz="125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"emailError"&gt;</a:t>
            </a: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0" y="1600200"/>
            <a:ext cx="48463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novalidate turns OFF the browser's built-in pop-ups, so our own JavaScript controls every message.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type="email" and type="tel" bring up the right on-screen keyboard on phones.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&lt;label for="email"&gt; is linked to the input's id — clicking the label focuses the field (accessibility).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&lt;span id="emailError"&gt; starts empty. JavaScript fills it with a message only when something's wrong.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Errors Easy to Notice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035040" cy="4892040"/>
          </a:xfrm>
          <a:prstGeom prst="roundRect">
            <a:avLst>
              <a:gd name="adj" fmla="val 1495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1664208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" y="166420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9344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1965960"/>
            <a:ext cx="5532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.form-group input:focus {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outline: none;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border-color: </a:t>
            </a:r>
            <a:r>
              <a:rPr lang="en-US" sz="125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#0056b3</a:t>
            </a: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0 4px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rgba(0,86,179,0.3);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#registrationForm span {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</a:t>
            </a:r>
            <a:r>
              <a:rPr lang="en-US" sz="1250" b="1" dirty="0">
                <a:solidFill>
                  <a:srgbClr val="E2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14px;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500;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block;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0" y="1600200"/>
            <a:ext cx="48463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.form-group gives every field the same spacing, so the form feels consistent top to bottom.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:focus adds a blue glow around whichever field the student is currently typing in.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&lt;span&gt; in the form is styled red and bold — it sits right under the field it belongs to, not in one big alert box.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rule in mind — we'll revisit it later (hint: it applies to more than just errors).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'Register' Is Clicked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417320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EEF3F7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3312" y="149961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353312" y="1499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74520" y="145389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clicks Register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80760" y="145389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form's submit event fires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17320" y="19842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2185416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26771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353312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74520" y="22219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event.preventDefault()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2221992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page from reloading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17320" y="27523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88720" y="2953512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EEF3F7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3312" y="303580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353312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74520" y="299008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every field's value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80760" y="299008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.value.trim() for each input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417320" y="3520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88720" y="372160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53312" y="38039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1353312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874520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old error messages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80760" y="3758184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stale errors don't linger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417320" y="42885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188720" y="4489704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EEF3F7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53312" y="45720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1353312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874520" y="452628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all 9 validation checks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80760" y="4526280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sets isValid = false on failure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234440" y="5193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then: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188720" y="5504688"/>
            <a:ext cx="3703320" cy="777240"/>
          </a:xfrm>
          <a:prstGeom prst="roundRect">
            <a:avLst>
              <a:gd name="adj" fmla="val 10588"/>
            </a:avLst>
          </a:prstGeom>
          <a:solidFill>
            <a:srgbClr val="2ECC71"/>
          </a:solidFill>
          <a:ln/>
        </p:spPr>
      </p:sp>
      <p:sp>
        <p:nvSpPr>
          <p:cNvPr id="35" name="Text 33"/>
          <p:cNvSpPr/>
          <p:nvPr/>
        </p:nvSpPr>
        <p:spPr>
          <a:xfrm>
            <a:off x="1371600" y="550468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isValid = true
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 alert + form.reset()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166360" y="5504688"/>
            <a:ext cx="3703320" cy="777240"/>
          </a:xfrm>
          <a:prstGeom prst="roundRect">
            <a:avLst>
              <a:gd name="adj" fmla="val 10588"/>
            </a:avLst>
          </a:prstGeom>
          <a:solidFill>
            <a:srgbClr val="E2574C"/>
          </a:solidFill>
          <a:ln/>
        </p:spPr>
      </p:sp>
      <p:sp>
        <p:nvSpPr>
          <p:cNvPr id="37" name="Text 35"/>
          <p:cNvSpPr/>
          <p:nvPr/>
        </p:nvSpPr>
        <p:spPr>
          <a:xfrm>
            <a:off x="5349240" y="550468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isValid = false
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Red messages shown, page stays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CONTINUE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in 60 Seconds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validation from here on relies on these five symbols.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201400" cy="621792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77440" y="17830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the string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63640" y="1783080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^A means the text must begin with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496312"/>
            <a:ext cx="112014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9631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0" y="249631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the string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2496312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z$ means the text must end with z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209544"/>
            <a:ext cx="11201400" cy="621792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0954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[A-Za-z]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77440" y="320954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 / set of allowed characters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209544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upper or lowercase letter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922776"/>
            <a:ext cx="112014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2277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377440" y="392277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of the previous item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3922776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[0-9]+ = one or more digits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636008"/>
            <a:ext cx="11201400" cy="621792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63600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{8,}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377440" y="463600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this many (8 or more)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4636008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minimum password length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349240"/>
            <a:ext cx="112014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34924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(?=...)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377440" y="534924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Lookahead — checks a condition ahead without consuming characters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5349240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"must contain a digit somewhere"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&amp;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Name and Email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32120" cy="4892040"/>
          </a:xfrm>
          <a:prstGeom prst="roundRect">
            <a:avLst>
              <a:gd name="adj" fmla="val 1495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1664208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" y="166420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9344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196596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namePattern =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/^[A-Za-z ]+$/;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(name === </a:t>
            </a:r>
            <a:r>
              <a:rPr lang="en-US" sz="120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nameError.innerHTML =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"Please enter your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full name.";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isValid = false;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(!namePattern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.test(name)) {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nameError.innerHTML =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"Letters &amp; spaces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only.";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1554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pattern: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^[A-Za-z ]+$ — from start to end, only letters (upper/lower) and spaces are allowed.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name and "wrong pattern" get two different, specific messages.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3520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pattern: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7947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3995928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15" name="Shape 13"/>
          <p:cNvSpPr/>
          <p:nvPr/>
        </p:nvSpPr>
        <p:spPr>
          <a:xfrm>
            <a:off x="6711696" y="3995928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912864" y="399592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42976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emailPattern =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/^[^\s@]+@[^\s@]+\.[^\s@]+$/;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51663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@ something . something — with no spaces allowed anywhere.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an Indian Mobile Number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760720" cy="32461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55648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1755648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" y="175564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0078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2057400"/>
            <a:ext cx="5257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mobilePattern =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/^[6-9][0-9]{9}$/;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(!mobilePattern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.test(mobile)) {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mobileError.innerHTML =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"Enter a valid 10-digit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mobile number.";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isValid = false;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" y="5074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2700">
            <a:solidFill>
              <a:srgbClr val="CBD6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6-9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15568" y="5074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 w="12700">
            <a:solidFill>
              <a:srgbClr val="CBD6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91640" y="5074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 w="12700">
            <a:solidFill>
              <a:srgbClr val="CBD6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67712" y="5074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 w="12700">
            <a:solidFill>
              <a:srgbClr val="CBD6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43784" y="5074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 w="12700">
            <a:solidFill>
              <a:srgbClr val="CBD6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43784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19856" y="5074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 w="12700">
            <a:solidFill>
              <a:srgbClr val="CBD6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95928" y="5074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 w="12700">
            <a:solidFill>
              <a:srgbClr val="CBD6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95928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5074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 w="12700">
            <a:solidFill>
              <a:srgbClr val="CBD6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48072" y="5074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 w="12700">
            <a:solidFill>
              <a:srgbClr val="CBD6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80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724144" y="5074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 w="12700">
            <a:solidFill>
              <a:srgbClr val="CBD6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24144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" y="56692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digits total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37960" y="1691640"/>
            <a:ext cx="5166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[6-9]  — the very first digit must be 6, 7, 8, or 9. That's the real-world rule for Indian mobile numbers.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[0-9]{9}  — exactly nine more digits follow.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1 + 9 = 10 digits, always starting with 6–9.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the name/email checks: empty → one message, wrong pattern → another message.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 Password, Checked by Regex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852160" cy="3383280"/>
          </a:xfrm>
          <a:prstGeom prst="roundRect">
            <a:avLst>
              <a:gd name="adj" fmla="val 2162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09928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1709928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" y="170992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55064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2011680"/>
            <a:ext cx="53492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passwordPattern =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/^(?=.*[a-z])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(?=.*[A-Z])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(?=.*\d)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(?=.*[@$!%*?&amp;])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.{8,}$/;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(!passwordPattern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.test(password)) {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isValid = false;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49834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like a checklist — each (?=...) peeks ahead for one rule, without moving forward: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1655064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1655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69480" y="1554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8 characters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720840" y="2331720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69480" y="223113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lowercase letter (a–z)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720840" y="3008376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9077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UPPERCASE letter (A–Z)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720840" y="3685032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35844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(0–9)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720840" y="4361688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69480" y="426110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special character ( @ $ ! % * ? &amp; 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5–9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Simpler Checks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every time: is it empty or wrong? → set an error and isValid = false.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760720" cy="4663440"/>
          </a:xfrm>
          <a:prstGeom prst="roundRect">
            <a:avLst>
              <a:gd name="adj" fmla="val 1569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892808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892808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189280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3794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2194560"/>
            <a:ext cx="52578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7C9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Confirm Password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(password !==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confirmPassword) {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confirmPasswordError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.innerHTML =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"Passwords do not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match.";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7C9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Gender (radio buttons)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gender =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document.querySelector(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'input[name="gender"]</a:t>
            </a:r>
            <a:endParaRPr lang="en-US" sz="11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:checked');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37960" y="1737360"/>
            <a:ext cx="5166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Password — simply checks password !== confirmPassword.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Year — the &lt;select&gt; value must not be an empty string "".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— querySelector looks for a checked radio button; if none is found, it's null → error.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— the checkbox's .checked property must be true.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37960" y="4343400"/>
            <a:ext cx="5166360" cy="201168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39128" y="4544568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0296" y="4544568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Shape 13"/>
          <p:cNvSpPr/>
          <p:nvPr/>
        </p:nvSpPr>
        <p:spPr>
          <a:xfrm>
            <a:off x="7141464" y="454456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6" name="Text 14"/>
          <p:cNvSpPr/>
          <p:nvPr/>
        </p:nvSpPr>
        <p:spPr>
          <a:xfrm>
            <a:off x="6793992" y="484632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7C9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Terms checkbox</a:t>
            </a:r>
            <a:endParaRPr lang="en-US" sz="10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(!terms) {</a:t>
            </a:r>
            <a:endParaRPr lang="en-US" sz="10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termsError.innerHTML =</a:t>
            </a:r>
            <a:endParaRPr lang="en-US" sz="10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"Please accept the</a:t>
            </a:r>
            <a:endParaRPr lang="en-US" sz="10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Terms and Conditions.";</a:t>
            </a:r>
            <a:endParaRPr lang="en-US" sz="10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isValid = false;</a:t>
            </a:r>
            <a:endParaRPr lang="en-US" sz="10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VERDICT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(isValid) { … 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37360" y="1737360"/>
            <a:ext cx="8686800" cy="2834640"/>
          </a:xfrm>
          <a:prstGeom prst="roundRect">
            <a:avLst>
              <a:gd name="adj" fmla="val 2581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8528" y="1938528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6" name="Shape 4"/>
          <p:cNvSpPr/>
          <p:nvPr/>
        </p:nvSpPr>
        <p:spPr>
          <a:xfrm>
            <a:off x="2139696" y="1938528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Shape 5"/>
          <p:cNvSpPr/>
          <p:nvPr/>
        </p:nvSpPr>
        <p:spPr>
          <a:xfrm>
            <a:off x="2340864" y="193852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88366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93392" y="2240280"/>
            <a:ext cx="8183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(isValid) {</a:t>
            </a:r>
            <a:endParaRPr lang="en-US" sz="1500" dirty="0"/>
          </a:p>
          <a:p>
            <a:pPr marL="0" indent="0">
              <a:lnSpc>
                <a:spcPct val="128000"/>
              </a:lnSpc>
              <a:buNone/>
            </a:pPr>
            <a:endParaRPr lang="en-US" sz="15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alert("Registration successful!</a:t>
            </a:r>
            <a:endParaRPr lang="en-US" sz="15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Welcome to StudentHub.");</a:t>
            </a:r>
            <a:endParaRPr lang="en-US" sz="1500" dirty="0"/>
          </a:p>
          <a:p>
            <a:pPr marL="0" indent="0">
              <a:lnSpc>
                <a:spcPct val="128000"/>
              </a:lnSpc>
              <a:buNone/>
            </a:pPr>
            <a:endParaRPr lang="en-US" sz="15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registrationForm.reset();</a:t>
            </a:r>
            <a:endParaRPr lang="en-US" sz="1500" dirty="0"/>
          </a:p>
          <a:p>
            <a:pPr marL="0" indent="0">
              <a:lnSpc>
                <a:spcPct val="128000"/>
              </a:lnSpc>
              <a:buNone/>
            </a:pPr>
            <a:endParaRPr lang="en-US" sz="15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37360" y="48463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isValid starts as true, before any checks run.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of the 9 checks failing flips it to false — and it can never flip back during this submit.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it survives all 9 checks do we show the success alert and call .reset() to clear the form.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SUBMIT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Feedback While Typing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943600" cy="3840480"/>
          </a:xfrm>
          <a:prstGeom prst="roundRect">
            <a:avLst>
              <a:gd name="adj" fmla="val 1905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09928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1709928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" y="170992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55064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2011680"/>
            <a:ext cx="54406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nameInput.addEventListener(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"input", function () {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name =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nameInput.value.trim();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(!namePattern.test(name)) {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nameErrorLive.innerHTML =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"Letters &amp; spaces only.";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nameErrorLive.innerHTML = "";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169164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SEPARATE listener from the submit handler — it fires on every keystroke via the "input" event.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reuses the exact same namePattern regex — no new rules to learn.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is repeated for the email and mobile fields.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20840" y="4251960"/>
            <a:ext cx="4983480" cy="1417320"/>
          </a:xfrm>
          <a:prstGeom prst="roundRect">
            <a:avLst>
              <a:gd name="adj" fmla="val 5806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validation </a:t>
            </a:r>
            <a:r>
              <a:rPr lang="en-US" sz="1400" dirty="0">
                <a:solidFill>
                  <a:srgbClr val="A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safety net
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</a:t>
            </a:r>
            <a:r>
              <a:rPr lang="en-US" sz="1400" dirty="0">
                <a:solidFill>
                  <a:srgbClr val="A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instant feedback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Strong Is My Password?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943600" cy="3794760"/>
          </a:xfrm>
          <a:prstGeom prst="roundRect">
            <a:avLst>
              <a:gd name="adj" fmla="val 1928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1664208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" y="166420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965960"/>
            <a:ext cx="5440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strength = 0;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(password.length &gt;= 8)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strength++;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(/[a-z]/.test(password))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strength++;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(/[A-Z]/.test(password))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strength++;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(/[0-9]/.test(password))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strength++;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(/[@$!%*?&amp;]/.test(password))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strength++;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0" y="15544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for each rule the password satisfies (max 5):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20840" y="2103120"/>
            <a:ext cx="4983480" cy="777240"/>
          </a:xfrm>
          <a:prstGeom prst="roundRect">
            <a:avLst>
              <a:gd name="adj" fmla="val 9412"/>
            </a:avLst>
          </a:prstGeom>
          <a:solidFill>
            <a:srgbClr val="EE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6720840" y="2103120"/>
            <a:ext cx="1644548" cy="777240"/>
          </a:xfrm>
          <a:prstGeom prst="roundRect">
            <a:avLst>
              <a:gd name="adj" fmla="val 9412"/>
            </a:avLst>
          </a:prstGeom>
          <a:solidFill>
            <a:srgbClr val="E2574C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2103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3720" y="21031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0–2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3081528"/>
            <a:ext cx="4983480" cy="777240"/>
          </a:xfrm>
          <a:prstGeom prst="roundRect">
            <a:avLst>
              <a:gd name="adj" fmla="val 9412"/>
            </a:avLst>
          </a:prstGeom>
          <a:solidFill>
            <a:srgbClr val="EE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0840" y="3081528"/>
            <a:ext cx="3289097" cy="777240"/>
          </a:xfrm>
          <a:prstGeom prst="roundRect">
            <a:avLst>
              <a:gd name="adj" fmla="val 9412"/>
            </a:avLst>
          </a:prstGeom>
          <a:solidFill>
            <a:srgbClr val="F2B134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30815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3720" y="308152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3–4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4059936"/>
            <a:ext cx="4983480" cy="777240"/>
          </a:xfrm>
          <a:prstGeom prst="roundRect">
            <a:avLst>
              <a:gd name="adj" fmla="val 9412"/>
            </a:avLst>
          </a:prstGeom>
          <a:solidFill>
            <a:srgbClr val="EEF3F7"/>
          </a:solidFill>
          <a:ln/>
        </p:spPr>
      </p:sp>
      <p:sp>
        <p:nvSpPr>
          <p:cNvPr id="19" name="Shape 17"/>
          <p:cNvSpPr/>
          <p:nvPr/>
        </p:nvSpPr>
        <p:spPr>
          <a:xfrm>
            <a:off x="6720840" y="4059936"/>
            <a:ext cx="4983480" cy="777240"/>
          </a:xfrm>
          <a:prstGeom prst="roundRect">
            <a:avLst>
              <a:gd name="adj" fmla="val 9412"/>
            </a:avLst>
          </a:prstGeom>
          <a:solidFill>
            <a:srgbClr val="2ECC71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405993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405993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5084064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passwordStrength.innerHTML shows the matching label as the student types — live, on every keystroke.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Bug!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755648"/>
            <a:ext cx="100584" cy="100584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" y="1755648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1755648"/>
            <a:ext cx="100584" cy="10058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0078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41832" y="205740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#registrationForm span {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</a:t>
            </a:r>
            <a:r>
              <a:rPr lang="en-US" sz="1300" b="1" dirty="0">
                <a:solidFill>
                  <a:srgbClr val="E25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14px;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500;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block;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16052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2A347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315968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This rule targets EVERY &lt;span&gt; inside #registrationForm — including #passwordStrength and #confirmPasswordError.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4652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 color will these show up in?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46520" y="224028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2A3470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295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D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"Strong"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password strength meter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31089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2A3470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1638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D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"Passwords match."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474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F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confirm-password field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416052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E2574C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429768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Red. 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#registrationForm span is more specific than #passwordStrength alone, its red wins — even for success messages.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Just Learned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2356" y="1463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/>
          <p:nvPr/>
        </p:nvSpPr>
        <p:spPr>
          <a:xfrm>
            <a:off x="790956" y="16002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addEventListener()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90956" y="20299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a function to run on "submit" or "input" events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463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/>
        </p:spPr>
      </p:sp>
      <p:sp>
        <p:nvSpPr>
          <p:cNvPr id="8" name="Text 6"/>
          <p:cNvSpPr/>
          <p:nvPr/>
        </p:nvSpPr>
        <p:spPr>
          <a:xfrm>
            <a:off x="6505956" y="16002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event.preventDefault()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05956" y="20299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form's default page-reload behaviour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2356" y="3090672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" y="3227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getElementById() / querySelector()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90956" y="36576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elements from the DOM by id, or by a CSS-style selector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090672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3227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regexPattern.test(value)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05956" y="36576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true/false — does the value match the pattern?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2356" y="4718304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" y="485546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string.trim()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90956" y="52852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accidental leading/trailing spaces before checking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7356" y="4718304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6505956" y="485546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.checked / .value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05956" y="52852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current state of checkboxes, radios, and inputs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5 — COMPLETE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What's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covered: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fields validated with Regular Expressions on submit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Friendly, field-specific error messages instead of browser pop-ups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validation while typing (name, email, mobile)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strength meter built from a 5-point checklist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CSS specificity bug worth discussing in class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92240" y="1600200"/>
            <a:ext cx="5166360" cy="4572000"/>
          </a:xfrm>
          <a:prstGeom prst="roundRect">
            <a:avLst>
              <a:gd name="adj" fmla="val 2000"/>
            </a:avLst>
          </a:prstGeom>
          <a:solidFill>
            <a:srgbClr val="2A347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0" y="1874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0" y="2148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766560" y="2697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API, Search &amp; Filter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0" y="324612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external JSON data (events, students, FAQs)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search, filter, and sort with array methods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loading and error states gracefully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we move on?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1890</Words>
  <Application>Microsoft Office PowerPoint</Application>
  <PresentationFormat>Widescreen</PresentationFormat>
  <Paragraphs>424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CHARUSAT</cp:lastModifiedBy>
  <cp:revision>1</cp:revision>
  <dcterms:created xsi:type="dcterms:W3CDTF">2026-08-18T05:14:30Z</dcterms:created>
  <dcterms:modified xsi:type="dcterms:W3CDTF">2026-08-18T07:05:54Z</dcterms:modified>
</cp:coreProperties>
</file>